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+09JqJ6+6G+2zrMOABjRS91jC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33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38047" y="2059428"/>
            <a:ext cx="105156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HealthCheck IA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C4D7E7"/>
                </a:solidFill>
                <a:latin typeface="Calibri"/>
                <a:ea typeface="Calibri"/>
                <a:cs typeface="Calibri"/>
                <a:sym typeface="Calibri"/>
              </a:rPr>
              <a:t>MVP de extensão para combate à desinformação em saúde</a:t>
            </a:r>
            <a:endParaRPr sz="2400"/>
          </a:p>
        </p:txBody>
      </p:sp>
      <p:sp>
        <p:nvSpPr>
          <p:cNvPr id="85" name="Google Shape;85;p1"/>
          <p:cNvSpPr/>
          <p:nvPr/>
        </p:nvSpPr>
        <p:spPr>
          <a:xfrm>
            <a:off x="3146538" y="4106463"/>
            <a:ext cx="5898600" cy="692100"/>
          </a:xfrm>
          <a:prstGeom prst="roundRect">
            <a:avLst>
              <a:gd fmla="val 16667" name="adj"/>
            </a:avLst>
          </a:prstGeom>
          <a:solidFill>
            <a:srgbClr val="2271B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+ evidências + Inteligência Artificial</a:t>
            </a:r>
            <a:endParaRPr sz="2200"/>
          </a:p>
        </p:txBody>
      </p:sp>
      <p:sp>
        <p:nvSpPr>
          <p:cNvPr id="86" name="Google Shape;86;p1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640080" y="411480"/>
            <a:ext cx="10972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O problema</a:t>
            </a:r>
            <a:endParaRPr sz="2500"/>
          </a:p>
        </p:txBody>
      </p:sp>
      <p:sp>
        <p:nvSpPr>
          <p:cNvPr id="92" name="Google Shape;92;p2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731520" y="1170432"/>
            <a:ext cx="10698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67717C"/>
                </a:solidFill>
                <a:latin typeface="Calibri"/>
                <a:ea typeface="Calibri"/>
                <a:cs typeface="Calibri"/>
                <a:sym typeface="Calibri"/>
              </a:rPr>
              <a:t>Informações falsas sobre saúde podem gerar decisões reais e prejudiciais.</a:t>
            </a:r>
            <a:endParaRPr sz="2500"/>
          </a:p>
        </p:txBody>
      </p:sp>
      <p:sp>
        <p:nvSpPr>
          <p:cNvPr id="94" name="Google Shape;94;p2"/>
          <p:cNvSpPr/>
          <p:nvPr/>
        </p:nvSpPr>
        <p:spPr>
          <a:xfrm>
            <a:off x="685800" y="1737360"/>
            <a:ext cx="5349240" cy="4160520"/>
          </a:xfrm>
          <a:prstGeom prst="roundRect">
            <a:avLst>
              <a:gd fmla="val 16667" name="adj"/>
            </a:avLst>
          </a:prstGeom>
          <a:solidFill>
            <a:srgbClr val="FDEFE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572750" y="1938525"/>
            <a:ext cx="3453000" cy="457200"/>
          </a:xfrm>
          <a:prstGeom prst="roundRect">
            <a:avLst>
              <a:gd fmla="val 16667" name="adj"/>
            </a:avLst>
          </a:prstGeom>
          <a:solidFill>
            <a:srgbClr val="C63030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467575" y="1904675"/>
            <a:ext cx="3785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Evitar</a:t>
            </a:r>
            <a:endParaRPr sz="3800"/>
          </a:p>
        </p:txBody>
      </p:sp>
      <p:sp>
        <p:nvSpPr>
          <p:cNvPr id="97" name="Google Shape;97;p2"/>
          <p:cNvSpPr/>
          <p:nvPr/>
        </p:nvSpPr>
        <p:spPr>
          <a:xfrm>
            <a:off x="978408" y="261518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978408" y="2606039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6303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1527048" y="254203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Desinformação</a:t>
            </a:r>
            <a:endParaRPr sz="2000"/>
          </a:p>
        </p:txBody>
      </p:sp>
      <p:sp>
        <p:nvSpPr>
          <p:cNvPr id="100" name="Google Shape;100;p2"/>
          <p:cNvSpPr txBox="1"/>
          <p:nvPr/>
        </p:nvSpPr>
        <p:spPr>
          <a:xfrm>
            <a:off x="1527048" y="2788920"/>
            <a:ext cx="4206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Conteúdos falsos ou enganosos sobre saúde.</a:t>
            </a:r>
            <a:endParaRPr sz="2000"/>
          </a:p>
        </p:txBody>
      </p:sp>
      <p:sp>
        <p:nvSpPr>
          <p:cNvPr id="101" name="Google Shape;101;p2"/>
          <p:cNvSpPr/>
          <p:nvPr/>
        </p:nvSpPr>
        <p:spPr>
          <a:xfrm>
            <a:off x="978408" y="3712463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978408" y="37033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6303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527048" y="3639311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Riscos ao usuário</a:t>
            </a:r>
            <a:endParaRPr sz="1900"/>
          </a:p>
        </p:txBody>
      </p:sp>
      <p:sp>
        <p:nvSpPr>
          <p:cNvPr id="104" name="Google Shape;104;p2"/>
          <p:cNvSpPr txBox="1"/>
          <p:nvPr/>
        </p:nvSpPr>
        <p:spPr>
          <a:xfrm>
            <a:off x="1527048" y="3886200"/>
            <a:ext cx="420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Automedicação, medo e decisões sem comprovação.</a:t>
            </a:r>
            <a:endParaRPr sz="1650"/>
          </a:p>
        </p:txBody>
      </p:sp>
      <p:sp>
        <p:nvSpPr>
          <p:cNvPr id="105" name="Google Shape;105;p2"/>
          <p:cNvSpPr/>
          <p:nvPr/>
        </p:nvSpPr>
        <p:spPr>
          <a:xfrm>
            <a:off x="978408" y="480974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978408" y="4800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6303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527048" y="473659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Dependência da IA</a:t>
            </a:r>
            <a:endParaRPr sz="1900"/>
          </a:p>
        </p:txBody>
      </p:sp>
      <p:sp>
        <p:nvSpPr>
          <p:cNvPr id="108" name="Google Shape;108;p2"/>
          <p:cNvSpPr txBox="1"/>
          <p:nvPr/>
        </p:nvSpPr>
        <p:spPr>
          <a:xfrm>
            <a:off x="1527048" y="4983479"/>
            <a:ext cx="420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Evitar respostas prontas sem contexto ou evidências.</a:t>
            </a:r>
            <a:endParaRPr sz="1650"/>
          </a:p>
        </p:txBody>
      </p:sp>
      <p:sp>
        <p:nvSpPr>
          <p:cNvPr id="109" name="Google Shape;109;p2"/>
          <p:cNvSpPr/>
          <p:nvPr/>
        </p:nvSpPr>
        <p:spPr>
          <a:xfrm>
            <a:off x="6172200" y="1737360"/>
            <a:ext cx="5349240" cy="4160520"/>
          </a:xfrm>
          <a:prstGeom prst="roundRect">
            <a:avLst>
              <a:gd fmla="val 16667" name="adj"/>
            </a:avLst>
          </a:prstGeom>
          <a:solidFill>
            <a:srgbClr val="EBF7F0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7013450" y="1938600"/>
            <a:ext cx="3650400" cy="457200"/>
          </a:xfrm>
          <a:prstGeom prst="roundRect">
            <a:avLst>
              <a:gd fmla="val 16667" name="adj"/>
            </a:avLst>
          </a:prstGeom>
          <a:solidFill>
            <a:srgbClr val="2A8558"/>
          </a:solidFill>
          <a:ln cap="flat" cmpd="sng" w="9525">
            <a:solidFill>
              <a:srgbClr val="2A8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7120325" y="1904675"/>
            <a:ext cx="34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Priorizar</a:t>
            </a:r>
            <a:endParaRPr sz="3600"/>
          </a:p>
        </p:txBody>
      </p:sp>
      <p:sp>
        <p:nvSpPr>
          <p:cNvPr id="112" name="Google Shape;112;p2"/>
          <p:cNvSpPr/>
          <p:nvPr/>
        </p:nvSpPr>
        <p:spPr>
          <a:xfrm>
            <a:off x="6464808" y="261518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2A8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6464808" y="2606039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855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7013448" y="254203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Informação confiável</a:t>
            </a:r>
            <a:endParaRPr sz="1900"/>
          </a:p>
        </p:txBody>
      </p:sp>
      <p:sp>
        <p:nvSpPr>
          <p:cNvPr id="115" name="Google Shape;115;p2"/>
          <p:cNvSpPr txBox="1"/>
          <p:nvPr/>
        </p:nvSpPr>
        <p:spPr>
          <a:xfrm>
            <a:off x="7013448" y="2788920"/>
            <a:ext cx="420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Análise baseada em evidências e fontes selecionadas.</a:t>
            </a:r>
            <a:endParaRPr sz="1650"/>
          </a:p>
        </p:txBody>
      </p:sp>
      <p:sp>
        <p:nvSpPr>
          <p:cNvPr id="116" name="Google Shape;116;p2"/>
          <p:cNvSpPr/>
          <p:nvPr/>
        </p:nvSpPr>
        <p:spPr>
          <a:xfrm>
            <a:off x="6464808" y="3712463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2A8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6464808" y="37033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855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7013448" y="3639311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Acesso rápido</a:t>
            </a:r>
            <a:endParaRPr sz="1900"/>
          </a:p>
        </p:txBody>
      </p:sp>
      <p:sp>
        <p:nvSpPr>
          <p:cNvPr id="119" name="Google Shape;119;p2"/>
          <p:cNvSpPr txBox="1"/>
          <p:nvPr/>
        </p:nvSpPr>
        <p:spPr>
          <a:xfrm>
            <a:off x="7013448" y="3886200"/>
            <a:ext cx="420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Verificação integrada ao momento da pesquisa.</a:t>
            </a:r>
            <a:endParaRPr sz="1650"/>
          </a:p>
        </p:txBody>
      </p:sp>
      <p:sp>
        <p:nvSpPr>
          <p:cNvPr id="120" name="Google Shape;120;p2"/>
          <p:cNvSpPr/>
          <p:nvPr/>
        </p:nvSpPr>
        <p:spPr>
          <a:xfrm>
            <a:off x="6464808" y="480974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2A8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6464808" y="4800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855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7013448" y="473659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Pensamento crítico</a:t>
            </a:r>
            <a:endParaRPr sz="1900"/>
          </a:p>
        </p:txBody>
      </p:sp>
      <p:sp>
        <p:nvSpPr>
          <p:cNvPr id="123" name="Google Shape;123;p2"/>
          <p:cNvSpPr txBox="1"/>
          <p:nvPr/>
        </p:nvSpPr>
        <p:spPr>
          <a:xfrm>
            <a:off x="7013448" y="4983479"/>
            <a:ext cx="420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A IA apoia a decisão, mas mostra o porquê da análise.</a:t>
            </a:r>
            <a:endParaRPr sz="16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/>
          <p:nvPr/>
        </p:nvSpPr>
        <p:spPr>
          <a:xfrm>
            <a:off x="609443" y="1063830"/>
            <a:ext cx="109728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A solução proposta</a:t>
            </a:r>
            <a:endParaRPr sz="5400"/>
          </a:p>
        </p:txBody>
      </p:sp>
      <p:sp>
        <p:nvSpPr>
          <p:cNvPr id="129" name="Google Shape;129;p3"/>
          <p:cNvSpPr txBox="1"/>
          <p:nvPr/>
        </p:nvSpPr>
        <p:spPr>
          <a:xfrm>
            <a:off x="609431" y="2202935"/>
            <a:ext cx="10789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Uma extensão do Chrome focada inicialmente em conteúdo textual de saúde.</a:t>
            </a:r>
            <a:endParaRPr sz="2500"/>
          </a:p>
        </p:txBody>
      </p:sp>
      <p:sp>
        <p:nvSpPr>
          <p:cNvPr id="130" name="Google Shape;130;p3"/>
          <p:cNvSpPr/>
          <p:nvPr/>
        </p:nvSpPr>
        <p:spPr>
          <a:xfrm>
            <a:off x="586635" y="2973740"/>
            <a:ext cx="1874400" cy="13260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b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Pesquisa no Google</a:t>
            </a:r>
            <a:endParaRPr sz="1700"/>
          </a:p>
        </p:txBody>
      </p:sp>
      <p:sp>
        <p:nvSpPr>
          <p:cNvPr id="131" name="Google Shape;131;p3"/>
          <p:cNvSpPr txBox="1"/>
          <p:nvPr/>
        </p:nvSpPr>
        <p:spPr>
          <a:xfrm>
            <a:off x="2488587" y="3339500"/>
            <a:ext cx="34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71B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2872635" y="2973740"/>
            <a:ext cx="1874400" cy="13260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b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Captura título, descrição e URL</a:t>
            </a:r>
            <a:endParaRPr sz="1700"/>
          </a:p>
        </p:txBody>
      </p:sp>
      <p:sp>
        <p:nvSpPr>
          <p:cNvPr id="133" name="Google Shape;133;p3"/>
          <p:cNvSpPr txBox="1"/>
          <p:nvPr/>
        </p:nvSpPr>
        <p:spPr>
          <a:xfrm>
            <a:off x="4774587" y="3339500"/>
            <a:ext cx="34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71B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5158635" y="2973740"/>
            <a:ext cx="1874400" cy="13260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b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Busca evidências confiáveis</a:t>
            </a:r>
            <a:endParaRPr sz="1700"/>
          </a:p>
        </p:txBody>
      </p:sp>
      <p:sp>
        <p:nvSpPr>
          <p:cNvPr id="135" name="Google Shape;135;p3"/>
          <p:cNvSpPr txBox="1"/>
          <p:nvPr/>
        </p:nvSpPr>
        <p:spPr>
          <a:xfrm>
            <a:off x="7060587" y="3339500"/>
            <a:ext cx="34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71B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7444635" y="2973740"/>
            <a:ext cx="1874400" cy="13260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b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IA compara alegação e evidências</a:t>
            </a:r>
            <a:endParaRPr sz="1700"/>
          </a:p>
        </p:txBody>
      </p:sp>
      <p:sp>
        <p:nvSpPr>
          <p:cNvPr id="137" name="Google Shape;137;p3"/>
          <p:cNvSpPr txBox="1"/>
          <p:nvPr/>
        </p:nvSpPr>
        <p:spPr>
          <a:xfrm>
            <a:off x="9346587" y="3339500"/>
            <a:ext cx="34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71B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9730635" y="2973740"/>
            <a:ext cx="1874400" cy="13260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b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Exibe classificação + fontes</a:t>
            </a:r>
            <a:endParaRPr sz="1700"/>
          </a:p>
        </p:txBody>
      </p:sp>
      <p:sp>
        <p:nvSpPr>
          <p:cNvPr id="139" name="Google Shape;139;p3"/>
          <p:cNvSpPr txBox="1"/>
          <p:nvPr/>
        </p:nvSpPr>
        <p:spPr>
          <a:xfrm>
            <a:off x="1097268" y="4593570"/>
            <a:ext cx="9966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Objetivo: ajudar o usuário a avaliar a informação antes de acessar ou compartilhar o conteúdo.</a:t>
            </a:r>
            <a:endParaRPr sz="3000"/>
          </a:p>
        </p:txBody>
      </p:sp>
      <p:sp>
        <p:nvSpPr>
          <p:cNvPr id="140" name="Google Shape;140;p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/>
        </p:nvSpPr>
        <p:spPr>
          <a:xfrm>
            <a:off x="640080" y="411480"/>
            <a:ext cx="1097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Escopo do MVP 1.0</a:t>
            </a:r>
            <a:endParaRPr sz="2800"/>
          </a:p>
        </p:txBody>
      </p:sp>
      <p:sp>
        <p:nvSpPr>
          <p:cNvPr id="146" name="Google Shape;146;p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731520" y="1143000"/>
            <a:ext cx="10698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0" u="none" cap="none" strike="noStrike">
                <a:solidFill>
                  <a:srgbClr val="67717C"/>
                </a:solidFill>
                <a:latin typeface="Calibri"/>
                <a:ea typeface="Calibri"/>
                <a:cs typeface="Calibri"/>
                <a:sym typeface="Calibri"/>
              </a:rPr>
              <a:t>Um MVP enxuto: foco em saúde, texto e resultados de pesquisa.</a:t>
            </a:r>
            <a:endParaRPr sz="2900"/>
          </a:p>
        </p:txBody>
      </p:sp>
      <p:sp>
        <p:nvSpPr>
          <p:cNvPr id="148" name="Google Shape;148;p4"/>
          <p:cNvSpPr/>
          <p:nvPr/>
        </p:nvSpPr>
        <p:spPr>
          <a:xfrm>
            <a:off x="685800" y="1691640"/>
            <a:ext cx="5349240" cy="4251960"/>
          </a:xfrm>
          <a:prstGeom prst="roundRect">
            <a:avLst>
              <a:gd fmla="val 16667" name="adj"/>
            </a:avLst>
          </a:prstGeom>
          <a:solidFill>
            <a:srgbClr val="EBF7F0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257275" y="1943100"/>
            <a:ext cx="4206300" cy="438900"/>
          </a:xfrm>
          <a:prstGeom prst="roundRect">
            <a:avLst>
              <a:gd fmla="val 16667" name="adj"/>
            </a:avLst>
          </a:prstGeom>
          <a:solidFill>
            <a:srgbClr val="2A8558"/>
          </a:solidFill>
          <a:ln cap="flat" cmpd="sng" w="9525">
            <a:solidFill>
              <a:srgbClr val="2A8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1257275" y="1931700"/>
            <a:ext cx="420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Dentro do MVP</a:t>
            </a:r>
            <a:endParaRPr sz="2400"/>
          </a:p>
        </p:txBody>
      </p:sp>
      <p:sp>
        <p:nvSpPr>
          <p:cNvPr id="151" name="Google Shape;151;p4"/>
          <p:cNvSpPr/>
          <p:nvPr/>
        </p:nvSpPr>
        <p:spPr>
          <a:xfrm>
            <a:off x="978408" y="256946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2A8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978408" y="25603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855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1527048" y="249631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2000"/>
          </a:p>
        </p:txBody>
      </p:sp>
      <p:sp>
        <p:nvSpPr>
          <p:cNvPr id="154" name="Google Shape;154;p4"/>
          <p:cNvSpPr txBox="1"/>
          <p:nvPr/>
        </p:nvSpPr>
        <p:spPr>
          <a:xfrm>
            <a:off x="1527048" y="2743200"/>
            <a:ext cx="4206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Resultados exibidos na página de pesquisa.</a:t>
            </a:r>
            <a:endParaRPr sz="2100"/>
          </a:p>
        </p:txBody>
      </p:sp>
      <p:sp>
        <p:nvSpPr>
          <p:cNvPr id="155" name="Google Shape;155;p4"/>
          <p:cNvSpPr/>
          <p:nvPr/>
        </p:nvSpPr>
        <p:spPr>
          <a:xfrm>
            <a:off x="978408" y="341528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2A8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978408" y="34061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855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1527048" y="334213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Dados analisados</a:t>
            </a:r>
            <a:endParaRPr sz="1900"/>
          </a:p>
        </p:txBody>
      </p:sp>
      <p:sp>
        <p:nvSpPr>
          <p:cNvPr id="158" name="Google Shape;158;p4"/>
          <p:cNvSpPr txBox="1"/>
          <p:nvPr/>
        </p:nvSpPr>
        <p:spPr>
          <a:xfrm>
            <a:off x="1527048" y="3589020"/>
            <a:ext cx="4206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Título, descrição e URL de cada resultado.</a:t>
            </a:r>
            <a:endParaRPr sz="1750"/>
          </a:p>
        </p:txBody>
      </p:sp>
      <p:sp>
        <p:nvSpPr>
          <p:cNvPr id="159" name="Google Shape;159;p4"/>
          <p:cNvSpPr/>
          <p:nvPr/>
        </p:nvSpPr>
        <p:spPr>
          <a:xfrm>
            <a:off x="978408" y="426110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2A8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978408" y="42519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855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1527048" y="418795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Escopo</a:t>
            </a:r>
            <a:endParaRPr sz="1900"/>
          </a:p>
        </p:txBody>
      </p:sp>
      <p:sp>
        <p:nvSpPr>
          <p:cNvPr id="162" name="Google Shape;162;p4"/>
          <p:cNvSpPr txBox="1"/>
          <p:nvPr/>
        </p:nvSpPr>
        <p:spPr>
          <a:xfrm>
            <a:off x="1527048" y="4434840"/>
            <a:ext cx="42063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Conteúdo textual em português e relacionado à saúde.</a:t>
            </a:r>
            <a:endParaRPr sz="1750"/>
          </a:p>
        </p:txBody>
      </p:sp>
      <p:sp>
        <p:nvSpPr>
          <p:cNvPr id="163" name="Google Shape;163;p4"/>
          <p:cNvSpPr/>
          <p:nvPr/>
        </p:nvSpPr>
        <p:spPr>
          <a:xfrm>
            <a:off x="978408" y="510692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2A8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978408" y="50977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855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1527048" y="503377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Saída</a:t>
            </a:r>
            <a:endParaRPr sz="1900"/>
          </a:p>
        </p:txBody>
      </p:sp>
      <p:sp>
        <p:nvSpPr>
          <p:cNvPr id="166" name="Google Shape;166;p4"/>
          <p:cNvSpPr txBox="1"/>
          <p:nvPr/>
        </p:nvSpPr>
        <p:spPr>
          <a:xfrm>
            <a:off x="1527048" y="5280660"/>
            <a:ext cx="4206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Classificação, explicação e fontes utilizadas.</a:t>
            </a:r>
            <a:endParaRPr sz="1750"/>
          </a:p>
        </p:txBody>
      </p:sp>
      <p:sp>
        <p:nvSpPr>
          <p:cNvPr id="167" name="Google Shape;167;p4"/>
          <p:cNvSpPr/>
          <p:nvPr/>
        </p:nvSpPr>
        <p:spPr>
          <a:xfrm>
            <a:off x="6172200" y="1691640"/>
            <a:ext cx="5349300" cy="4251900"/>
          </a:xfrm>
          <a:prstGeom prst="roundRect">
            <a:avLst>
              <a:gd fmla="val 16667" name="adj"/>
            </a:avLst>
          </a:prstGeom>
          <a:solidFill>
            <a:srgbClr val="FDEFE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6743675" y="1931700"/>
            <a:ext cx="4206300" cy="461700"/>
          </a:xfrm>
          <a:prstGeom prst="roundRect">
            <a:avLst>
              <a:gd fmla="val 16667" name="adj"/>
            </a:avLst>
          </a:prstGeom>
          <a:solidFill>
            <a:srgbClr val="C63030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6743675" y="1931688"/>
            <a:ext cx="420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Fica para depois</a:t>
            </a:r>
            <a:endParaRPr sz="2400"/>
          </a:p>
        </p:txBody>
      </p:sp>
      <p:sp>
        <p:nvSpPr>
          <p:cNvPr id="170" name="Google Shape;170;p4"/>
          <p:cNvSpPr/>
          <p:nvPr/>
        </p:nvSpPr>
        <p:spPr>
          <a:xfrm>
            <a:off x="6464808" y="256946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6464808" y="25603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6303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7013448" y="249631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Mídias</a:t>
            </a:r>
            <a:endParaRPr sz="1900"/>
          </a:p>
        </p:txBody>
      </p:sp>
      <p:sp>
        <p:nvSpPr>
          <p:cNvPr id="173" name="Google Shape;173;p4"/>
          <p:cNvSpPr txBox="1"/>
          <p:nvPr/>
        </p:nvSpPr>
        <p:spPr>
          <a:xfrm>
            <a:off x="7013448" y="2743200"/>
            <a:ext cx="4206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Imagens, vídeos e áudio.</a:t>
            </a:r>
            <a:endParaRPr sz="1750"/>
          </a:p>
        </p:txBody>
      </p:sp>
      <p:sp>
        <p:nvSpPr>
          <p:cNvPr id="174" name="Google Shape;174;p4"/>
          <p:cNvSpPr/>
          <p:nvPr/>
        </p:nvSpPr>
        <p:spPr>
          <a:xfrm>
            <a:off x="6464808" y="341528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6464808" y="34061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6303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7013448" y="334213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Plataformas</a:t>
            </a:r>
            <a:endParaRPr sz="1900"/>
          </a:p>
        </p:txBody>
      </p:sp>
      <p:sp>
        <p:nvSpPr>
          <p:cNvPr id="177" name="Google Shape;177;p4"/>
          <p:cNvSpPr txBox="1"/>
          <p:nvPr/>
        </p:nvSpPr>
        <p:spPr>
          <a:xfrm>
            <a:off x="7013448" y="3589020"/>
            <a:ext cx="4206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WhatsApp, Instagram e outras redes.</a:t>
            </a:r>
            <a:endParaRPr sz="1750"/>
          </a:p>
        </p:txBody>
      </p:sp>
      <p:sp>
        <p:nvSpPr>
          <p:cNvPr id="178" name="Google Shape;178;p4"/>
          <p:cNvSpPr/>
          <p:nvPr/>
        </p:nvSpPr>
        <p:spPr>
          <a:xfrm>
            <a:off x="6464808" y="426110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6464808" y="42519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6303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7013448" y="418795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Temas</a:t>
            </a:r>
            <a:endParaRPr sz="1900"/>
          </a:p>
        </p:txBody>
      </p:sp>
      <p:sp>
        <p:nvSpPr>
          <p:cNvPr id="181" name="Google Shape;181;p4"/>
          <p:cNvSpPr txBox="1"/>
          <p:nvPr/>
        </p:nvSpPr>
        <p:spPr>
          <a:xfrm>
            <a:off x="7013448" y="4434840"/>
            <a:ext cx="4206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Política, esportes e assuntos fora da saúde.</a:t>
            </a:r>
            <a:endParaRPr sz="1750"/>
          </a:p>
        </p:txBody>
      </p:sp>
      <p:sp>
        <p:nvSpPr>
          <p:cNvPr id="182" name="Google Shape;182;p4"/>
          <p:cNvSpPr/>
          <p:nvPr/>
        </p:nvSpPr>
        <p:spPr>
          <a:xfrm>
            <a:off x="6464808" y="510692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6464808" y="50977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6303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7013448" y="503377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Escala</a:t>
            </a:r>
            <a:endParaRPr sz="1900"/>
          </a:p>
        </p:txBody>
      </p:sp>
      <p:sp>
        <p:nvSpPr>
          <p:cNvPr id="185" name="Google Shape;185;p4"/>
          <p:cNvSpPr txBox="1"/>
          <p:nvPr/>
        </p:nvSpPr>
        <p:spPr>
          <a:xfrm>
            <a:off x="7013450" y="5280650"/>
            <a:ext cx="45081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Outros idiomas e análise universal da internet.</a:t>
            </a:r>
            <a:endParaRPr sz="1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"/>
          <p:cNvSpPr txBox="1"/>
          <p:nvPr/>
        </p:nvSpPr>
        <p:spPr>
          <a:xfrm>
            <a:off x="640080" y="411480"/>
            <a:ext cx="10972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Como o resultado será apresentado</a:t>
            </a:r>
            <a:endParaRPr sz="3800"/>
          </a:p>
        </p:txBody>
      </p:sp>
      <p:sp>
        <p:nvSpPr>
          <p:cNvPr id="191" name="Google Shape;191;p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731520" y="1143000"/>
            <a:ext cx="10698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50" u="none" cap="none" strike="noStrike">
                <a:solidFill>
                  <a:srgbClr val="67717C"/>
                </a:solidFill>
                <a:latin typeface="Calibri"/>
                <a:ea typeface="Calibri"/>
                <a:cs typeface="Calibri"/>
                <a:sym typeface="Calibri"/>
              </a:rPr>
              <a:t>A classificação comunica o estado das evidências — sem transformar a IA em árbitro absoluto.</a:t>
            </a:r>
            <a:endParaRPr sz="2000"/>
          </a:p>
        </p:txBody>
      </p:sp>
      <p:sp>
        <p:nvSpPr>
          <p:cNvPr id="193" name="Google Shape;193;p5"/>
          <p:cNvSpPr/>
          <p:nvPr/>
        </p:nvSpPr>
        <p:spPr>
          <a:xfrm>
            <a:off x="777240" y="1783080"/>
            <a:ext cx="48006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A8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777240" y="1783080"/>
            <a:ext cx="146304" cy="530352"/>
          </a:xfrm>
          <a:prstGeom prst="roundRect">
            <a:avLst>
              <a:gd fmla="val 16667" name="adj"/>
            </a:avLst>
          </a:prstGeom>
          <a:solidFill>
            <a:srgbClr val="2A8558"/>
          </a:solidFill>
          <a:ln cap="flat" cmpd="sng" w="9525">
            <a:solidFill>
              <a:srgbClr val="2A8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1079001" y="1801375"/>
            <a:ext cx="4498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Sustentada pelas evidências</a:t>
            </a:r>
            <a:endParaRPr sz="2900"/>
          </a:p>
        </p:txBody>
      </p:sp>
      <p:sp>
        <p:nvSpPr>
          <p:cNvPr id="196" name="Google Shape;196;p5"/>
          <p:cNvSpPr/>
          <p:nvPr/>
        </p:nvSpPr>
        <p:spPr>
          <a:xfrm>
            <a:off x="777240" y="2496312"/>
            <a:ext cx="48006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C99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777240" y="2496312"/>
            <a:ext cx="146304" cy="530352"/>
          </a:xfrm>
          <a:prstGeom prst="roundRect">
            <a:avLst>
              <a:gd fmla="val 16667" name="adj"/>
            </a:avLst>
          </a:prstGeom>
          <a:solidFill>
            <a:srgbClr val="CC991E"/>
          </a:solidFill>
          <a:ln cap="flat" cmpd="sng" w="9525">
            <a:solidFill>
              <a:srgbClr val="CC99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079001" y="2514600"/>
            <a:ext cx="4498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Parcialmente sustentada</a:t>
            </a:r>
            <a:endParaRPr sz="2850"/>
          </a:p>
        </p:txBody>
      </p:sp>
      <p:sp>
        <p:nvSpPr>
          <p:cNvPr id="199" name="Google Shape;199;p5"/>
          <p:cNvSpPr/>
          <p:nvPr/>
        </p:nvSpPr>
        <p:spPr>
          <a:xfrm>
            <a:off x="777240" y="3209544"/>
            <a:ext cx="48006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56E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777240" y="3209544"/>
            <a:ext cx="146304" cy="530352"/>
          </a:xfrm>
          <a:prstGeom prst="roundRect">
            <a:avLst>
              <a:gd fmla="val 16667" name="adj"/>
            </a:avLst>
          </a:prstGeom>
          <a:solidFill>
            <a:srgbClr val="D56E26"/>
          </a:solidFill>
          <a:ln cap="flat" cmpd="sng" w="9525">
            <a:solidFill>
              <a:srgbClr val="D56E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1078992" y="3227832"/>
            <a:ext cx="4160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Enganosa</a:t>
            </a:r>
            <a:endParaRPr sz="2850"/>
          </a:p>
        </p:txBody>
      </p:sp>
      <p:sp>
        <p:nvSpPr>
          <p:cNvPr id="202" name="Google Shape;202;p5"/>
          <p:cNvSpPr/>
          <p:nvPr/>
        </p:nvSpPr>
        <p:spPr>
          <a:xfrm>
            <a:off x="777240" y="3922776"/>
            <a:ext cx="48006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777240" y="3922776"/>
            <a:ext cx="146304" cy="530352"/>
          </a:xfrm>
          <a:prstGeom prst="roundRect">
            <a:avLst>
              <a:gd fmla="val 16667" name="adj"/>
            </a:avLst>
          </a:prstGeom>
          <a:solidFill>
            <a:srgbClr val="C63030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1079004" y="3941075"/>
            <a:ext cx="5989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Contradita pelas evidências</a:t>
            </a:r>
            <a:endParaRPr sz="2850"/>
          </a:p>
        </p:txBody>
      </p:sp>
      <p:sp>
        <p:nvSpPr>
          <p:cNvPr id="205" name="Google Shape;205;p5"/>
          <p:cNvSpPr/>
          <p:nvPr/>
        </p:nvSpPr>
        <p:spPr>
          <a:xfrm>
            <a:off x="777240" y="4636008"/>
            <a:ext cx="4800600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771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777240" y="4636008"/>
            <a:ext cx="146304" cy="530352"/>
          </a:xfrm>
          <a:prstGeom prst="roundRect">
            <a:avLst>
              <a:gd fmla="val 16667" name="adj"/>
            </a:avLst>
          </a:prstGeom>
          <a:solidFill>
            <a:srgbClr val="67717C"/>
          </a:solidFill>
          <a:ln cap="flat" cmpd="sng" w="9525">
            <a:solidFill>
              <a:srgbClr val="6771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1078992" y="4654296"/>
            <a:ext cx="4160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Não foi possível verificar</a:t>
            </a:r>
            <a:endParaRPr sz="2850"/>
          </a:p>
        </p:txBody>
      </p:sp>
      <p:sp>
        <p:nvSpPr>
          <p:cNvPr id="208" name="Google Shape;208;p5"/>
          <p:cNvSpPr/>
          <p:nvPr/>
        </p:nvSpPr>
        <p:spPr>
          <a:xfrm>
            <a:off x="5989320" y="1737360"/>
            <a:ext cx="5349300" cy="3977700"/>
          </a:xfrm>
          <a:prstGeom prst="roundRect">
            <a:avLst>
              <a:gd fmla="val 16667" name="adj"/>
            </a:avLst>
          </a:prstGeom>
          <a:solidFill>
            <a:srgbClr val="EBF5FF"/>
          </a:solidFill>
          <a:ln cap="flat" cmpd="sng" w="9525">
            <a:solidFill>
              <a:srgbClr val="C4D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675125" y="1938525"/>
            <a:ext cx="4206300" cy="567000"/>
          </a:xfrm>
          <a:prstGeom prst="roundRect">
            <a:avLst>
              <a:gd fmla="val 16667" name="adj"/>
            </a:avLst>
          </a:prstGeom>
          <a:solidFill>
            <a:srgbClr val="C63030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6537950" y="1984250"/>
            <a:ext cx="438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Contradita pelas evidências</a:t>
            </a:r>
            <a:endParaRPr sz="2600"/>
          </a:p>
        </p:txBody>
      </p:sp>
      <p:sp>
        <p:nvSpPr>
          <p:cNvPr id="211" name="Google Shape;211;p5"/>
          <p:cNvSpPr txBox="1"/>
          <p:nvPr/>
        </p:nvSpPr>
        <p:spPr>
          <a:xfrm>
            <a:off x="6355080" y="2670048"/>
            <a:ext cx="457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Confiança da análise: 87%</a:t>
            </a:r>
            <a:endParaRPr sz="3100"/>
          </a:p>
        </p:txBody>
      </p:sp>
      <p:sp>
        <p:nvSpPr>
          <p:cNvPr id="212" name="Google Shape;212;p5"/>
          <p:cNvSpPr txBox="1"/>
          <p:nvPr/>
        </p:nvSpPr>
        <p:spPr>
          <a:xfrm>
            <a:off x="6377980" y="3309757"/>
            <a:ext cx="4572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As evidências recuperadas contradizem a alegação apresentada no resultado da busca.</a:t>
            </a:r>
            <a:endParaRPr sz="2000"/>
          </a:p>
        </p:txBody>
      </p:sp>
      <p:sp>
        <p:nvSpPr>
          <p:cNvPr id="213" name="Google Shape;213;p5"/>
          <p:cNvSpPr/>
          <p:nvPr/>
        </p:nvSpPr>
        <p:spPr>
          <a:xfrm>
            <a:off x="6537960" y="4224528"/>
            <a:ext cx="420624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4D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6675175" y="4311926"/>
            <a:ext cx="3931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D69BE"/>
                </a:solidFill>
                <a:latin typeface="Calibri"/>
                <a:ea typeface="Calibri"/>
                <a:cs typeface="Calibri"/>
                <a:sym typeface="Calibri"/>
              </a:rPr>
              <a:t>3 evidências encontradas  •  Ver evidências</a:t>
            </a:r>
            <a:endParaRPr sz="1800"/>
          </a:p>
        </p:txBody>
      </p:sp>
      <p:sp>
        <p:nvSpPr>
          <p:cNvPr id="215" name="Google Shape;215;p5"/>
          <p:cNvSpPr txBox="1"/>
          <p:nvPr/>
        </p:nvSpPr>
        <p:spPr>
          <a:xfrm>
            <a:off x="914400" y="5715000"/>
            <a:ext cx="10332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67717C"/>
                </a:solidFill>
                <a:latin typeface="Calibri"/>
                <a:ea typeface="Calibri"/>
                <a:cs typeface="Calibri"/>
                <a:sym typeface="Calibri"/>
              </a:rPr>
              <a:t>“87%” representa a confiança do sistema na classificação, não a probabilidade de a notícia ser verdadeira.</a:t>
            </a:r>
            <a:endParaRPr sz="3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 txBox="1"/>
          <p:nvPr/>
        </p:nvSpPr>
        <p:spPr>
          <a:xfrm>
            <a:off x="609443" y="838042"/>
            <a:ext cx="1097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Base de evidências</a:t>
            </a:r>
            <a:endParaRPr sz="4600"/>
          </a:p>
        </p:txBody>
      </p:sp>
      <p:sp>
        <p:nvSpPr>
          <p:cNvPr id="221" name="Google Shape;221;p6"/>
          <p:cNvSpPr/>
          <p:nvPr/>
        </p:nvSpPr>
        <p:spPr>
          <a:xfrm>
            <a:off x="700883" y="2072483"/>
            <a:ext cx="2423100" cy="8229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Ministério da Saúde</a:t>
            </a:r>
            <a:endParaRPr sz="1900"/>
          </a:p>
        </p:txBody>
      </p:sp>
      <p:sp>
        <p:nvSpPr>
          <p:cNvPr id="222" name="Google Shape;222;p6"/>
          <p:cNvSpPr/>
          <p:nvPr/>
        </p:nvSpPr>
        <p:spPr>
          <a:xfrm>
            <a:off x="3489802" y="2072483"/>
            <a:ext cx="2423100" cy="8229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Anvisa</a:t>
            </a:r>
            <a:endParaRPr sz="2000"/>
          </a:p>
        </p:txBody>
      </p:sp>
      <p:sp>
        <p:nvSpPr>
          <p:cNvPr id="223" name="Google Shape;223;p6"/>
          <p:cNvSpPr/>
          <p:nvPr/>
        </p:nvSpPr>
        <p:spPr>
          <a:xfrm>
            <a:off x="6278722" y="2072483"/>
            <a:ext cx="2423100" cy="8229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Fiocruz</a:t>
            </a:r>
            <a:endParaRPr sz="2000"/>
          </a:p>
        </p:txBody>
      </p:sp>
      <p:sp>
        <p:nvSpPr>
          <p:cNvPr id="224" name="Google Shape;224;p6"/>
          <p:cNvSpPr/>
          <p:nvPr/>
        </p:nvSpPr>
        <p:spPr>
          <a:xfrm>
            <a:off x="9067643" y="2072483"/>
            <a:ext cx="2423100" cy="8229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BVS</a:t>
            </a:r>
            <a:endParaRPr sz="2000"/>
          </a:p>
        </p:txBody>
      </p:sp>
      <p:sp>
        <p:nvSpPr>
          <p:cNvPr id="225" name="Google Shape;225;p6"/>
          <p:cNvSpPr/>
          <p:nvPr/>
        </p:nvSpPr>
        <p:spPr>
          <a:xfrm>
            <a:off x="2095332" y="3342823"/>
            <a:ext cx="2423100" cy="8229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PubMed</a:t>
            </a:r>
            <a:endParaRPr sz="2000"/>
          </a:p>
        </p:txBody>
      </p:sp>
      <p:sp>
        <p:nvSpPr>
          <p:cNvPr id="226" name="Google Shape;226;p6"/>
          <p:cNvSpPr/>
          <p:nvPr/>
        </p:nvSpPr>
        <p:spPr>
          <a:xfrm>
            <a:off x="4884252" y="3342823"/>
            <a:ext cx="2423100" cy="8229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Universidades públicas</a:t>
            </a:r>
            <a:endParaRPr sz="2000"/>
          </a:p>
        </p:txBody>
      </p:sp>
      <p:sp>
        <p:nvSpPr>
          <p:cNvPr id="227" name="Google Shape;227;p6"/>
          <p:cNvSpPr/>
          <p:nvPr/>
        </p:nvSpPr>
        <p:spPr>
          <a:xfrm>
            <a:off x="7673172" y="3342823"/>
            <a:ext cx="2423100" cy="8229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Sociedades médicas</a:t>
            </a:r>
            <a:endParaRPr sz="2000"/>
          </a:p>
        </p:txBody>
      </p:sp>
      <p:sp>
        <p:nvSpPr>
          <p:cNvPr id="228" name="Google Shape;228;p6"/>
          <p:cNvSpPr/>
          <p:nvPr/>
        </p:nvSpPr>
        <p:spPr>
          <a:xfrm>
            <a:off x="1173100" y="4737763"/>
            <a:ext cx="9784200" cy="12822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DCE2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1173100" y="4737763"/>
            <a:ext cx="228600" cy="1282200"/>
          </a:xfrm>
          <a:prstGeom prst="rect">
            <a:avLst/>
          </a:prstGeom>
          <a:solidFill>
            <a:srgbClr val="2271B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1401695" y="4683230"/>
            <a:ext cx="9372600" cy="13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Princípio</a:t>
            </a:r>
            <a:endParaRPr sz="2600"/>
          </a:p>
          <a:p>
            <a:pPr indent="0" lvl="0" marL="0" marR="0" rtl="0" algn="ctr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32B33"/>
                </a:solidFill>
                <a:latin typeface="Calibri"/>
                <a:ea typeface="Calibri"/>
                <a:cs typeface="Calibri"/>
                <a:sym typeface="Calibri"/>
              </a:rPr>
              <a:t>A IA não deve responder apenas com conhecimento próprio: ela deve comparar a alegação com evidências recuperadas de fontes selecionadas.</a:t>
            </a:r>
            <a:endParaRPr sz="2400"/>
          </a:p>
        </p:txBody>
      </p:sp>
      <p:sp>
        <p:nvSpPr>
          <p:cNvPr id="231" name="Google Shape;231;p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"/>
          <p:cNvSpPr txBox="1"/>
          <p:nvPr/>
        </p:nvSpPr>
        <p:spPr>
          <a:xfrm>
            <a:off x="640080" y="411480"/>
            <a:ext cx="109728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3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Arquitetura inicial</a:t>
            </a:r>
            <a:endParaRPr sz="3900"/>
          </a:p>
        </p:txBody>
      </p:sp>
      <p:sp>
        <p:nvSpPr>
          <p:cNvPr id="237" name="Google Shape;237;p7"/>
          <p:cNvSpPr/>
          <p:nvPr/>
        </p:nvSpPr>
        <p:spPr>
          <a:xfrm>
            <a:off x="502920" y="1920240"/>
            <a:ext cx="1965960" cy="150876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Chrome Extension</a:t>
            </a:r>
            <a:endParaRPr sz="15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1700"/>
          </a:p>
        </p:txBody>
      </p:sp>
      <p:sp>
        <p:nvSpPr>
          <p:cNvPr id="238" name="Google Shape;238;p7"/>
          <p:cNvSpPr txBox="1"/>
          <p:nvPr/>
        </p:nvSpPr>
        <p:spPr>
          <a:xfrm>
            <a:off x="2487168" y="2450592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71B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2834639" y="1920240"/>
            <a:ext cx="1965960" cy="150876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Python + FastAPI</a:t>
            </a:r>
            <a:endParaRPr sz="1700"/>
          </a:p>
        </p:txBody>
      </p:sp>
      <p:sp>
        <p:nvSpPr>
          <p:cNvPr id="240" name="Google Shape;240;p7"/>
          <p:cNvSpPr txBox="1"/>
          <p:nvPr/>
        </p:nvSpPr>
        <p:spPr>
          <a:xfrm>
            <a:off x="4818888" y="2450592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71B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5166359" y="1920240"/>
            <a:ext cx="1965960" cy="150876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Busca</a:t>
            </a:r>
            <a:endParaRPr sz="1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Embeddings / RAG</a:t>
            </a:r>
            <a:endParaRPr sz="1700"/>
          </a:p>
        </p:txBody>
      </p:sp>
      <p:sp>
        <p:nvSpPr>
          <p:cNvPr id="242" name="Google Shape;242;p7"/>
          <p:cNvSpPr txBox="1"/>
          <p:nvPr/>
        </p:nvSpPr>
        <p:spPr>
          <a:xfrm>
            <a:off x="7150607" y="2450592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71B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7498079" y="1920240"/>
            <a:ext cx="1965960" cy="150876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endParaRPr sz="1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LLM local</a:t>
            </a:r>
            <a:endParaRPr sz="1700"/>
          </a:p>
        </p:txBody>
      </p:sp>
      <p:sp>
        <p:nvSpPr>
          <p:cNvPr id="244" name="Google Shape;244;p7"/>
          <p:cNvSpPr txBox="1"/>
          <p:nvPr/>
        </p:nvSpPr>
        <p:spPr>
          <a:xfrm>
            <a:off x="9482328" y="2450592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71B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9829800" y="1920240"/>
            <a:ext cx="1965960" cy="150876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Resposta</a:t>
            </a:r>
            <a:endParaRPr sz="1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Classificação + fontes</a:t>
            </a:r>
            <a:endParaRPr sz="1700"/>
          </a:p>
        </p:txBody>
      </p:sp>
      <p:sp>
        <p:nvSpPr>
          <p:cNvPr id="246" name="Google Shape;246;p7"/>
          <p:cNvSpPr/>
          <p:nvPr/>
        </p:nvSpPr>
        <p:spPr>
          <a:xfrm>
            <a:off x="1097280" y="4069080"/>
            <a:ext cx="9875520" cy="132588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DCE2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1097280" y="4069080"/>
            <a:ext cx="73152" cy="1325880"/>
          </a:xfrm>
          <a:prstGeom prst="rect">
            <a:avLst/>
          </a:prstGeom>
          <a:solidFill>
            <a:srgbClr val="2B7A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1325875" y="4069075"/>
            <a:ext cx="9464100" cy="12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Meta técnica do MVP</a:t>
            </a:r>
            <a:endParaRPr sz="21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32B33"/>
                </a:solidFill>
                <a:latin typeface="Calibri"/>
                <a:ea typeface="Calibri"/>
                <a:cs typeface="Calibri"/>
                <a:sym typeface="Calibri"/>
              </a:rPr>
              <a:t>Manter a arquitetura simples, modular e executável com ferramentas gratuitas/open source sempre que possível.</a:t>
            </a:r>
            <a:endParaRPr sz="2400"/>
          </a:p>
        </p:txBody>
      </p:sp>
      <p:sp>
        <p:nvSpPr>
          <p:cNvPr id="249" name="Google Shape;249;p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 txBox="1"/>
          <p:nvPr/>
        </p:nvSpPr>
        <p:spPr>
          <a:xfrm>
            <a:off x="640080" y="411480"/>
            <a:ext cx="10972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IA sem substituir o pensamento crítico</a:t>
            </a:r>
            <a:endParaRPr sz="2700"/>
          </a:p>
        </p:txBody>
      </p:sp>
      <p:sp>
        <p:nvSpPr>
          <p:cNvPr id="255" name="Google Shape;255;p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256" name="Google Shape;256;p8"/>
          <p:cNvSpPr txBox="1"/>
          <p:nvPr/>
        </p:nvSpPr>
        <p:spPr>
          <a:xfrm>
            <a:off x="731520" y="1143000"/>
            <a:ext cx="1069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67717C"/>
                </a:solidFill>
                <a:latin typeface="Calibri"/>
                <a:ea typeface="Calibri"/>
                <a:cs typeface="Calibri"/>
                <a:sym typeface="Calibri"/>
              </a:rPr>
              <a:t>O produto deve informar e estimular análise — não substituir o julgamento do usuário.</a:t>
            </a:r>
            <a:endParaRPr sz="2500"/>
          </a:p>
        </p:txBody>
      </p:sp>
      <p:sp>
        <p:nvSpPr>
          <p:cNvPr id="257" name="Google Shape;257;p8"/>
          <p:cNvSpPr/>
          <p:nvPr/>
        </p:nvSpPr>
        <p:spPr>
          <a:xfrm>
            <a:off x="685800" y="1737360"/>
            <a:ext cx="5349240" cy="4160520"/>
          </a:xfrm>
          <a:prstGeom prst="roundRect">
            <a:avLst>
              <a:gd fmla="val 16667" name="adj"/>
            </a:avLst>
          </a:prstGeom>
          <a:solidFill>
            <a:srgbClr val="FDEFE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1348850" y="1969725"/>
            <a:ext cx="4023300" cy="438900"/>
          </a:xfrm>
          <a:prstGeom prst="roundRect">
            <a:avLst>
              <a:gd fmla="val 16667" name="adj"/>
            </a:avLst>
          </a:prstGeom>
          <a:solidFill>
            <a:srgbClr val="C63030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1348775" y="1958313"/>
            <a:ext cx="402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Evitar</a:t>
            </a:r>
            <a:endParaRPr sz="2400"/>
          </a:p>
        </p:txBody>
      </p:sp>
      <p:sp>
        <p:nvSpPr>
          <p:cNvPr id="260" name="Google Shape;260;p8"/>
          <p:cNvSpPr/>
          <p:nvPr/>
        </p:nvSpPr>
        <p:spPr>
          <a:xfrm>
            <a:off x="978408" y="261518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978408" y="2606039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6303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262" name="Google Shape;262;p8"/>
          <p:cNvSpPr txBox="1"/>
          <p:nvPr/>
        </p:nvSpPr>
        <p:spPr>
          <a:xfrm>
            <a:off x="1527048" y="254203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Veredito seco</a:t>
            </a:r>
            <a:endParaRPr sz="1900"/>
          </a:p>
        </p:txBody>
      </p:sp>
      <p:sp>
        <p:nvSpPr>
          <p:cNvPr id="263" name="Google Shape;263;p8"/>
          <p:cNvSpPr txBox="1"/>
          <p:nvPr/>
        </p:nvSpPr>
        <p:spPr>
          <a:xfrm>
            <a:off x="1527048" y="2788920"/>
            <a:ext cx="4206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“Esta notícia é falsa.” sem contexto.</a:t>
            </a:r>
            <a:endParaRPr sz="1650"/>
          </a:p>
        </p:txBody>
      </p:sp>
      <p:sp>
        <p:nvSpPr>
          <p:cNvPr id="264" name="Google Shape;264;p8"/>
          <p:cNvSpPr/>
          <p:nvPr/>
        </p:nvSpPr>
        <p:spPr>
          <a:xfrm>
            <a:off x="978408" y="3712463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978408" y="37033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6303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266" name="Google Shape;266;p8"/>
          <p:cNvSpPr txBox="1"/>
          <p:nvPr/>
        </p:nvSpPr>
        <p:spPr>
          <a:xfrm>
            <a:off x="1527048" y="3639311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Caixa-preta</a:t>
            </a:r>
            <a:endParaRPr sz="1900"/>
          </a:p>
        </p:txBody>
      </p:sp>
      <p:sp>
        <p:nvSpPr>
          <p:cNvPr id="267" name="Google Shape;267;p8"/>
          <p:cNvSpPr txBox="1"/>
          <p:nvPr/>
        </p:nvSpPr>
        <p:spPr>
          <a:xfrm>
            <a:off x="1527048" y="3886200"/>
            <a:ext cx="420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Resultado sem mostrar como a conclusão foi obtida.</a:t>
            </a:r>
            <a:endParaRPr sz="1650"/>
          </a:p>
        </p:txBody>
      </p:sp>
      <p:sp>
        <p:nvSpPr>
          <p:cNvPr id="268" name="Google Shape;268;p8"/>
          <p:cNvSpPr/>
          <p:nvPr/>
        </p:nvSpPr>
        <p:spPr>
          <a:xfrm>
            <a:off x="978408" y="480974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C630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978408" y="4800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6303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270" name="Google Shape;270;p8"/>
          <p:cNvSpPr txBox="1"/>
          <p:nvPr/>
        </p:nvSpPr>
        <p:spPr>
          <a:xfrm>
            <a:off x="1527048" y="473659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Fontes ocultas</a:t>
            </a:r>
            <a:endParaRPr sz="1900"/>
          </a:p>
        </p:txBody>
      </p:sp>
      <p:sp>
        <p:nvSpPr>
          <p:cNvPr id="271" name="Google Shape;271;p8"/>
          <p:cNvSpPr txBox="1"/>
          <p:nvPr/>
        </p:nvSpPr>
        <p:spPr>
          <a:xfrm>
            <a:off x="1527048" y="4983479"/>
            <a:ext cx="4206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Usuário sem acesso às evidências consultadas.</a:t>
            </a:r>
            <a:endParaRPr sz="1650"/>
          </a:p>
        </p:txBody>
      </p:sp>
      <p:sp>
        <p:nvSpPr>
          <p:cNvPr id="272" name="Google Shape;272;p8"/>
          <p:cNvSpPr/>
          <p:nvPr/>
        </p:nvSpPr>
        <p:spPr>
          <a:xfrm>
            <a:off x="6172200" y="1737360"/>
            <a:ext cx="5349240" cy="4160520"/>
          </a:xfrm>
          <a:prstGeom prst="roundRect">
            <a:avLst>
              <a:gd fmla="val 16667" name="adj"/>
            </a:avLst>
          </a:prstGeom>
          <a:solidFill>
            <a:srgbClr val="EBF7F0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6885425" y="1969713"/>
            <a:ext cx="4206300" cy="438900"/>
          </a:xfrm>
          <a:prstGeom prst="roundRect">
            <a:avLst>
              <a:gd fmla="val 16667" name="adj"/>
            </a:avLst>
          </a:prstGeom>
          <a:solidFill>
            <a:srgbClr val="2A8558"/>
          </a:solidFill>
          <a:ln cap="flat" cmpd="sng" w="9525">
            <a:solidFill>
              <a:srgbClr val="2A85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6885425" y="1958313"/>
            <a:ext cx="420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Priorizar</a:t>
            </a:r>
            <a:endParaRPr sz="2400"/>
          </a:p>
        </p:txBody>
      </p:sp>
      <p:sp>
        <p:nvSpPr>
          <p:cNvPr id="275" name="Google Shape;275;p8"/>
          <p:cNvSpPr/>
          <p:nvPr/>
        </p:nvSpPr>
        <p:spPr>
          <a:xfrm>
            <a:off x="6464808" y="261518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2A8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6464808" y="2606039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855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77" name="Google Shape;277;p8"/>
          <p:cNvSpPr txBox="1"/>
          <p:nvPr/>
        </p:nvSpPr>
        <p:spPr>
          <a:xfrm>
            <a:off x="7013448" y="254203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Evidências visíveis</a:t>
            </a:r>
            <a:endParaRPr sz="1900"/>
          </a:p>
        </p:txBody>
      </p:sp>
      <p:sp>
        <p:nvSpPr>
          <p:cNvPr id="278" name="Google Shape;278;p8"/>
          <p:cNvSpPr txBox="1"/>
          <p:nvPr/>
        </p:nvSpPr>
        <p:spPr>
          <a:xfrm>
            <a:off x="7013448" y="2788920"/>
            <a:ext cx="420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Mostrar quais informações sustentam a análise.</a:t>
            </a:r>
            <a:endParaRPr sz="1650"/>
          </a:p>
        </p:txBody>
      </p:sp>
      <p:sp>
        <p:nvSpPr>
          <p:cNvPr id="279" name="Google Shape;279;p8"/>
          <p:cNvSpPr/>
          <p:nvPr/>
        </p:nvSpPr>
        <p:spPr>
          <a:xfrm>
            <a:off x="6464808" y="3712463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2A8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6464808" y="37033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855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81" name="Google Shape;281;p8"/>
          <p:cNvSpPr txBox="1"/>
          <p:nvPr/>
        </p:nvSpPr>
        <p:spPr>
          <a:xfrm>
            <a:off x="7013448" y="3639311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Explicação clara</a:t>
            </a:r>
            <a:endParaRPr sz="1900"/>
          </a:p>
        </p:txBody>
      </p:sp>
      <p:sp>
        <p:nvSpPr>
          <p:cNvPr id="282" name="Google Shape;282;p8"/>
          <p:cNvSpPr txBox="1"/>
          <p:nvPr/>
        </p:nvSpPr>
        <p:spPr>
          <a:xfrm>
            <a:off x="7013448" y="3886200"/>
            <a:ext cx="4206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Apontar sinais de alerta e limites do resultado.</a:t>
            </a:r>
            <a:endParaRPr sz="1650"/>
          </a:p>
        </p:txBody>
      </p:sp>
      <p:sp>
        <p:nvSpPr>
          <p:cNvPr id="283" name="Google Shape;283;p8"/>
          <p:cNvSpPr/>
          <p:nvPr/>
        </p:nvSpPr>
        <p:spPr>
          <a:xfrm>
            <a:off x="6464808" y="4809744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2A8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6464808" y="4800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855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85" name="Google Shape;285;p8"/>
          <p:cNvSpPr txBox="1"/>
          <p:nvPr/>
        </p:nvSpPr>
        <p:spPr>
          <a:xfrm>
            <a:off x="7013448" y="4736592"/>
            <a:ext cx="420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rPr>
              <a:t>Abstenção responsável</a:t>
            </a:r>
            <a:endParaRPr sz="1900"/>
          </a:p>
        </p:txBody>
      </p:sp>
      <p:sp>
        <p:nvSpPr>
          <p:cNvPr id="286" name="Google Shape;286;p8"/>
          <p:cNvSpPr txBox="1"/>
          <p:nvPr/>
        </p:nvSpPr>
        <p:spPr>
          <a:xfrm>
            <a:off x="7013448" y="4983479"/>
            <a:ext cx="420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F3E"/>
                </a:solidFill>
                <a:latin typeface="Calibri"/>
                <a:ea typeface="Calibri"/>
                <a:cs typeface="Calibri"/>
                <a:sym typeface="Calibri"/>
              </a:rPr>
              <a:t>Dizer quando não há evidência suficiente para concluir.</a:t>
            </a:r>
            <a:endParaRPr sz="16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"/>
          <p:cNvSpPr txBox="1"/>
          <p:nvPr/>
        </p:nvSpPr>
        <p:spPr>
          <a:xfrm>
            <a:off x="609443" y="751080"/>
            <a:ext cx="10972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Quando o MVP estará pronto?</a:t>
            </a:r>
            <a:endParaRPr sz="4300"/>
          </a:p>
        </p:txBody>
      </p:sp>
      <p:sp>
        <p:nvSpPr>
          <p:cNvPr id="292" name="Google Shape;292;p9"/>
          <p:cNvSpPr/>
          <p:nvPr/>
        </p:nvSpPr>
        <p:spPr>
          <a:xfrm>
            <a:off x="1036010" y="1809180"/>
            <a:ext cx="10058400" cy="5487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DCE2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0" u="none" cap="none" strike="noStrike">
                <a:solidFill>
                  <a:srgbClr val="232B33"/>
                </a:solidFill>
                <a:latin typeface="Calibri"/>
                <a:ea typeface="Calibri"/>
                <a:cs typeface="Calibri"/>
                <a:sym typeface="Calibri"/>
              </a:rPr>
              <a:t>✓  Extensão detecta resultados do Google.</a:t>
            </a:r>
            <a:endParaRPr sz="3000"/>
          </a:p>
        </p:txBody>
      </p:sp>
      <p:sp>
        <p:nvSpPr>
          <p:cNvPr id="293" name="Google Shape;293;p9"/>
          <p:cNvSpPr/>
          <p:nvPr/>
        </p:nvSpPr>
        <p:spPr>
          <a:xfrm>
            <a:off x="1036010" y="2558988"/>
            <a:ext cx="10058400" cy="5487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DCE2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0" u="none" cap="none" strike="noStrike">
                <a:solidFill>
                  <a:srgbClr val="232B33"/>
                </a:solidFill>
                <a:latin typeface="Calibri"/>
                <a:ea typeface="Calibri"/>
                <a:cs typeface="Calibri"/>
                <a:sym typeface="Calibri"/>
              </a:rPr>
              <a:t>✓  Captura título, descrição e URL.</a:t>
            </a:r>
            <a:endParaRPr sz="3100"/>
          </a:p>
        </p:txBody>
      </p:sp>
      <p:sp>
        <p:nvSpPr>
          <p:cNvPr id="294" name="Google Shape;294;p9"/>
          <p:cNvSpPr/>
          <p:nvPr/>
        </p:nvSpPr>
        <p:spPr>
          <a:xfrm>
            <a:off x="1036010" y="3308796"/>
            <a:ext cx="10058400" cy="5487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DCE2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0" u="none" cap="none" strike="noStrike">
                <a:solidFill>
                  <a:srgbClr val="232B33"/>
                </a:solidFill>
                <a:latin typeface="Calibri"/>
                <a:ea typeface="Calibri"/>
                <a:cs typeface="Calibri"/>
                <a:sym typeface="Calibri"/>
              </a:rPr>
              <a:t>✓  Backend recebe a informação.</a:t>
            </a:r>
            <a:endParaRPr sz="3100"/>
          </a:p>
        </p:txBody>
      </p:sp>
      <p:sp>
        <p:nvSpPr>
          <p:cNvPr id="295" name="Google Shape;295;p9"/>
          <p:cNvSpPr/>
          <p:nvPr/>
        </p:nvSpPr>
        <p:spPr>
          <a:xfrm>
            <a:off x="1036010" y="4058604"/>
            <a:ext cx="10058400" cy="5487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DCE2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0" u="none" cap="none" strike="noStrike">
                <a:solidFill>
                  <a:srgbClr val="232B33"/>
                </a:solidFill>
                <a:latin typeface="Calibri"/>
                <a:ea typeface="Calibri"/>
                <a:cs typeface="Calibri"/>
                <a:sym typeface="Calibri"/>
              </a:rPr>
              <a:t>✓  Busca recupera evidências relevantes.</a:t>
            </a:r>
            <a:endParaRPr sz="3100"/>
          </a:p>
        </p:txBody>
      </p:sp>
      <p:sp>
        <p:nvSpPr>
          <p:cNvPr id="296" name="Google Shape;296;p9"/>
          <p:cNvSpPr/>
          <p:nvPr/>
        </p:nvSpPr>
        <p:spPr>
          <a:xfrm>
            <a:off x="1036010" y="4808412"/>
            <a:ext cx="10058400" cy="5487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DCE2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0" u="none" cap="none" strike="noStrike">
                <a:solidFill>
                  <a:srgbClr val="232B33"/>
                </a:solidFill>
                <a:latin typeface="Calibri"/>
                <a:ea typeface="Calibri"/>
                <a:cs typeface="Calibri"/>
                <a:sym typeface="Calibri"/>
              </a:rPr>
              <a:t>✓  IA produz classificação estruturada.</a:t>
            </a:r>
            <a:endParaRPr sz="3100"/>
          </a:p>
        </p:txBody>
      </p:sp>
      <p:sp>
        <p:nvSpPr>
          <p:cNvPr id="297" name="Google Shape;297;p9"/>
          <p:cNvSpPr/>
          <p:nvPr/>
        </p:nvSpPr>
        <p:spPr>
          <a:xfrm>
            <a:off x="1036010" y="5558220"/>
            <a:ext cx="10058400" cy="5487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DCE2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0" u="none" cap="none" strike="noStrike">
                <a:solidFill>
                  <a:srgbClr val="232B33"/>
                </a:solidFill>
                <a:latin typeface="Calibri"/>
                <a:ea typeface="Calibri"/>
                <a:cs typeface="Calibri"/>
                <a:sym typeface="Calibri"/>
              </a:rPr>
              <a:t>✓  Usuário vê explicação e fontes no Google.</a:t>
            </a:r>
            <a:endParaRPr sz="3100"/>
          </a:p>
        </p:txBody>
      </p:sp>
      <p:sp>
        <p:nvSpPr>
          <p:cNvPr id="298" name="Google Shape;298;p9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"/>
          <p:cNvSpPr txBox="1"/>
          <p:nvPr/>
        </p:nvSpPr>
        <p:spPr>
          <a:xfrm>
            <a:off x="609380" y="920642"/>
            <a:ext cx="109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Próximos passos do desenvolvimento</a:t>
            </a:r>
            <a:endParaRPr sz="4000"/>
          </a:p>
        </p:txBody>
      </p:sp>
      <p:sp>
        <p:nvSpPr>
          <p:cNvPr id="304" name="Google Shape;304;p10"/>
          <p:cNvSpPr/>
          <p:nvPr/>
        </p:nvSpPr>
        <p:spPr>
          <a:xfrm>
            <a:off x="609380" y="2109363"/>
            <a:ext cx="2469000" cy="914400"/>
          </a:xfrm>
          <a:prstGeom prst="roundRect">
            <a:avLst>
              <a:gd fmla="val 16667" name="adj"/>
            </a:avLst>
          </a:prstGeom>
          <a:solidFill>
            <a:srgbClr val="2271B1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Extensão básica</a:t>
            </a:r>
            <a:endParaRPr sz="2200"/>
          </a:p>
        </p:txBody>
      </p:sp>
      <p:sp>
        <p:nvSpPr>
          <p:cNvPr id="305" name="Google Shape;305;p10"/>
          <p:cNvSpPr/>
          <p:nvPr/>
        </p:nvSpPr>
        <p:spPr>
          <a:xfrm>
            <a:off x="3444020" y="2109363"/>
            <a:ext cx="2469000" cy="9144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2. Captura Google</a:t>
            </a:r>
            <a:endParaRPr sz="2200"/>
          </a:p>
        </p:txBody>
      </p:sp>
      <p:sp>
        <p:nvSpPr>
          <p:cNvPr id="306" name="Google Shape;306;p10"/>
          <p:cNvSpPr/>
          <p:nvPr/>
        </p:nvSpPr>
        <p:spPr>
          <a:xfrm>
            <a:off x="6278660" y="2109363"/>
            <a:ext cx="2469000" cy="9144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3. Interface dos selos</a:t>
            </a:r>
            <a:endParaRPr sz="2200"/>
          </a:p>
        </p:txBody>
      </p:sp>
      <p:sp>
        <p:nvSpPr>
          <p:cNvPr id="307" name="Google Shape;307;p10"/>
          <p:cNvSpPr/>
          <p:nvPr/>
        </p:nvSpPr>
        <p:spPr>
          <a:xfrm>
            <a:off x="9113300" y="2109363"/>
            <a:ext cx="2469000" cy="9144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4. FastAPI</a:t>
            </a:r>
            <a:endParaRPr sz="2200"/>
          </a:p>
        </p:txBody>
      </p:sp>
      <p:sp>
        <p:nvSpPr>
          <p:cNvPr id="308" name="Google Shape;308;p10"/>
          <p:cNvSpPr/>
          <p:nvPr/>
        </p:nvSpPr>
        <p:spPr>
          <a:xfrm>
            <a:off x="609380" y="3618123"/>
            <a:ext cx="2469000" cy="9144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5. Base de saúde</a:t>
            </a:r>
            <a:endParaRPr sz="2200"/>
          </a:p>
        </p:txBody>
      </p:sp>
      <p:sp>
        <p:nvSpPr>
          <p:cNvPr id="309" name="Google Shape;309;p10"/>
          <p:cNvSpPr/>
          <p:nvPr/>
        </p:nvSpPr>
        <p:spPr>
          <a:xfrm>
            <a:off x="3444020" y="3618123"/>
            <a:ext cx="2469000" cy="9144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6. Embeddings + RAG</a:t>
            </a:r>
            <a:endParaRPr sz="2200"/>
          </a:p>
        </p:txBody>
      </p:sp>
      <p:sp>
        <p:nvSpPr>
          <p:cNvPr id="310" name="Google Shape;310;p10"/>
          <p:cNvSpPr/>
          <p:nvPr/>
        </p:nvSpPr>
        <p:spPr>
          <a:xfrm>
            <a:off x="6278660" y="3618123"/>
            <a:ext cx="2469000" cy="9144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7. LLM local</a:t>
            </a:r>
            <a:endParaRPr sz="2200"/>
          </a:p>
        </p:txBody>
      </p:sp>
      <p:sp>
        <p:nvSpPr>
          <p:cNvPr id="311" name="Google Shape;311;p10"/>
          <p:cNvSpPr/>
          <p:nvPr/>
        </p:nvSpPr>
        <p:spPr>
          <a:xfrm>
            <a:off x="9113300" y="3618123"/>
            <a:ext cx="2469000" cy="914400"/>
          </a:xfrm>
          <a:prstGeom prst="roundRect">
            <a:avLst>
              <a:gd fmla="val 16667" name="adj"/>
            </a:avLst>
          </a:prstGeom>
          <a:solidFill>
            <a:srgbClr val="F2F6F9"/>
          </a:solidFill>
          <a:ln cap="flat" cmpd="sng" w="9525">
            <a:solidFill>
              <a:srgbClr val="2271B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8. Testes e métricas</a:t>
            </a:r>
            <a:endParaRPr sz="2200"/>
          </a:p>
        </p:txBody>
      </p:sp>
      <p:sp>
        <p:nvSpPr>
          <p:cNvPr id="312" name="Google Shape;312;p10"/>
          <p:cNvSpPr txBox="1"/>
          <p:nvPr/>
        </p:nvSpPr>
        <p:spPr>
          <a:xfrm>
            <a:off x="929475" y="4767653"/>
            <a:ext cx="10332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0E233A"/>
                </a:solidFill>
                <a:latin typeface="Calibri"/>
                <a:ea typeface="Calibri"/>
                <a:cs typeface="Calibri"/>
                <a:sym typeface="Calibri"/>
              </a:rPr>
              <a:t>Regra do projeto: só avançar para a próxima camada quando a anterior estiver funcionando.</a:t>
            </a:r>
            <a:endParaRPr sz="3100"/>
          </a:p>
        </p:txBody>
      </p:sp>
      <p:sp>
        <p:nvSpPr>
          <p:cNvPr id="313" name="Google Shape;313;p10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33A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"/>
          <p:cNvSpPr txBox="1"/>
          <p:nvPr/>
        </p:nvSpPr>
        <p:spPr>
          <a:xfrm>
            <a:off x="929538" y="1876940"/>
            <a:ext cx="103326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HealthCheck IA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C4D7E7"/>
                </a:solidFill>
                <a:latin typeface="Calibri"/>
                <a:ea typeface="Calibri"/>
                <a:cs typeface="Calibri"/>
                <a:sym typeface="Calibri"/>
              </a:rPr>
              <a:t>IA como apoio à verificação — evidências antes do clique.</a:t>
            </a:r>
            <a:endParaRPr sz="1800"/>
          </a:p>
        </p:txBody>
      </p:sp>
      <p:sp>
        <p:nvSpPr>
          <p:cNvPr id="319" name="Google Shape;319;p11"/>
          <p:cNvSpPr txBox="1"/>
          <p:nvPr/>
        </p:nvSpPr>
        <p:spPr>
          <a:xfrm>
            <a:off x="1843938" y="3934340"/>
            <a:ext cx="8503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MVP: Google + saúde + texto + fontes confiáveis + análise explicável</a:t>
            </a:r>
            <a:endParaRPr sz="2500"/>
          </a:p>
        </p:txBody>
      </p:sp>
      <p:sp>
        <p:nvSpPr>
          <p:cNvPr id="320" name="Google Shape;320;p11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