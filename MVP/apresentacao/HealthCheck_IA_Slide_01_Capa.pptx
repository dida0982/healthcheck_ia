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731520"/>
            <a:ext cx="3291840" cy="3291840"/>
          </a:xfrm>
          <a:prstGeom prst="ellipse">
            <a:avLst/>
          </a:prstGeom>
          <a:solidFill>
            <a:srgbClr val="1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120640"/>
            <a:ext cx="2286000" cy="2286000"/>
          </a:xfrm>
          <a:prstGeom prst="ellipse">
            <a:avLst/>
          </a:prstGeom>
          <a:solidFill>
            <a:srgbClr val="10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303520"/>
            <a:ext cx="2194560" cy="2194560"/>
          </a:xfrm>
          <a:prstGeom prst="ellipse">
            <a:avLst/>
          </a:prstGeom>
          <a:solidFill>
            <a:srgbClr val="1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4480560"/>
          </a:xfrm>
          <a:prstGeom prst="rect">
            <a:avLst/>
          </a:prstGeom>
          <a:solidFill>
            <a:srgbClr val="27B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84124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27B0BE"/>
                </a:solidFill>
                <a:latin typeface="Aptos"/>
              </a:defRPr>
            </a:pPr>
            <a:r>
              <a:t>PROJETO DE INTELIGÊNCIA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6675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HealthCheck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2500" b="1">
                <a:solidFill>
                  <a:srgbClr val="E0EBF3"/>
                </a:solidFill>
                <a:latin typeface="Aptos Display"/>
              </a:defRPr>
            </a:pPr>
            <a:r>
              <a:t>Inteligência Artificial contra a</a:t>
            </a:r>
            <a:br/>
            <a:r>
              <a:t>desinformação em saúde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6309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700">
                <a:solidFill>
                  <a:srgbClr val="A7BECD"/>
                </a:solidFill>
                <a:latin typeface="Aptos"/>
              </a:defRPr>
            </a:pPr>
            <a:r>
              <a:t>Análise de alegações com evidências, fontes confiáveis e apoio ao pensamento crítico.</a:t>
            </a:r>
          </a:p>
        </p:txBody>
      </p:sp>
      <p:sp>
        <p:nvSpPr>
          <p:cNvPr id="10" name="Rectangle 9"/>
          <p:cNvSpPr/>
          <p:nvPr/>
        </p:nvSpPr>
        <p:spPr>
          <a:xfrm rot="1980000">
            <a:off x="8778240" y="1984248"/>
            <a:ext cx="1691639" cy="32004"/>
          </a:xfrm>
          <a:prstGeom prst="rect">
            <a:avLst/>
          </a:prstGeom>
          <a:solidFill>
            <a:srgbClr val="4C6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9620000">
            <a:off x="10332720" y="2990087"/>
            <a:ext cx="1691639" cy="32004"/>
          </a:xfrm>
          <a:prstGeom prst="rect">
            <a:avLst/>
          </a:prstGeom>
          <a:solidFill>
            <a:srgbClr val="4C6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980000">
            <a:off x="8778240" y="3995928"/>
            <a:ext cx="1691639" cy="32004"/>
          </a:xfrm>
          <a:prstGeom prst="rect">
            <a:avLst/>
          </a:prstGeom>
          <a:solidFill>
            <a:srgbClr val="4C6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1325880"/>
            <a:ext cx="1051560" cy="1051560"/>
          </a:xfrm>
          <a:prstGeom prst="ellipse">
            <a:avLst/>
          </a:prstGeom>
          <a:solidFill>
            <a:srgbClr val="1C63AD"/>
          </a:solidFill>
          <a:ln w="15240">
            <a:solidFill>
              <a:srgbClr val="76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53895"/>
            <a:ext cx="1051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 Symbol"/>
              </a:defRPr>
            </a:pPr>
            <a:r>
              <a:t>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0487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0EBF3"/>
                </a:solidFill>
                <a:latin typeface="Aptos"/>
              </a:defRPr>
            </a:pPr>
            <a:r>
              <a:t>Pesquisa</a:t>
            </a:r>
          </a:p>
        </p:txBody>
      </p:sp>
      <p:sp>
        <p:nvSpPr>
          <p:cNvPr id="16" name="Oval 15"/>
          <p:cNvSpPr/>
          <p:nvPr/>
        </p:nvSpPr>
        <p:spPr>
          <a:xfrm>
            <a:off x="9829800" y="2331720"/>
            <a:ext cx="1051560" cy="1051560"/>
          </a:xfrm>
          <a:prstGeom prst="ellipse">
            <a:avLst/>
          </a:prstGeom>
          <a:solidFill>
            <a:srgbClr val="27B0BE"/>
          </a:solidFill>
          <a:ln w="15240">
            <a:solidFill>
              <a:srgbClr val="76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2459736"/>
            <a:ext cx="1051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 Symbol"/>
              </a:defRPr>
            </a:pPr>
            <a: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410711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0EBF3"/>
                </a:solidFill>
                <a:latin typeface="Aptos"/>
              </a:defRPr>
            </a:pPr>
            <a:r>
              <a:t>IA</a:t>
            </a:r>
          </a:p>
        </p:txBody>
      </p:sp>
      <p:sp>
        <p:nvSpPr>
          <p:cNvPr id="19" name="Oval 18"/>
          <p:cNvSpPr/>
          <p:nvPr/>
        </p:nvSpPr>
        <p:spPr>
          <a:xfrm>
            <a:off x="8275320" y="3337560"/>
            <a:ext cx="1051560" cy="1051560"/>
          </a:xfrm>
          <a:prstGeom prst="ellipse">
            <a:avLst/>
          </a:prstGeom>
          <a:solidFill>
            <a:srgbClr val="2C9E6F"/>
          </a:solidFill>
          <a:ln w="15240">
            <a:solidFill>
              <a:srgbClr val="76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465576"/>
            <a:ext cx="1051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 Symbol"/>
              </a:defRPr>
            </a:pPr>
            <a: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41655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0EBF3"/>
                </a:solidFill>
                <a:latin typeface="Aptos"/>
              </a:defRPr>
            </a:pPr>
            <a:r>
              <a:t>Evidências</a:t>
            </a:r>
          </a:p>
        </p:txBody>
      </p:sp>
      <p:sp>
        <p:nvSpPr>
          <p:cNvPr id="22" name="Oval 21"/>
          <p:cNvSpPr/>
          <p:nvPr/>
        </p:nvSpPr>
        <p:spPr>
          <a:xfrm>
            <a:off x="9829800" y="4343400"/>
            <a:ext cx="1051560" cy="1051560"/>
          </a:xfrm>
          <a:prstGeom prst="ellipse">
            <a:avLst/>
          </a:prstGeom>
          <a:solidFill>
            <a:srgbClr val="4B8EBE"/>
          </a:solidFill>
          <a:ln w="15240">
            <a:solidFill>
              <a:srgbClr val="76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4471416"/>
            <a:ext cx="1051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 Symbol"/>
              </a:defRPr>
            </a:pPr>
            <a:r>
              <a:t>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42239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0EBF3"/>
                </a:solidFill>
                <a:latin typeface="Aptos"/>
              </a:defRPr>
            </a:pPr>
            <a:r>
              <a:t>Saúde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064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7BECD"/>
                </a:solidFill>
                <a:latin typeface="Aptos"/>
              </a:defRPr>
            </a:pPr>
            <a:r>
              <a:t>Guilherme Barros  •  Residência em Inteligência Artificial — Instituto Eldorado / UnB  • 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6172200"/>
            <a:ext cx="777240" cy="54864"/>
          </a:xfrm>
          <a:prstGeom prst="rect">
            <a:avLst/>
          </a:prstGeom>
          <a:solidFill>
            <a:srgbClr val="2C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