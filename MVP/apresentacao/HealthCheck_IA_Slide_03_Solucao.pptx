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A solução: HealthCheck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7899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7BECD"/>
                </a:solidFill>
                <a:latin typeface="Aptos"/>
              </a:defRPr>
            </a:pPr>
            <a:r>
              <a:t>Uma extensão que transforma resultados de busca em análises explicáveis, com evidências e fontes rastreáveis.</a:t>
            </a:r>
          </a:p>
        </p:txBody>
      </p:sp>
      <p:sp>
        <p:nvSpPr>
          <p:cNvPr id="4" name="Chevron 3"/>
          <p:cNvSpPr/>
          <p:nvPr/>
        </p:nvSpPr>
        <p:spPr>
          <a:xfrm>
            <a:off x="2560320" y="2350008"/>
            <a:ext cx="438912" cy="384048"/>
          </a:xfrm>
          <a:prstGeom prst="chevron">
            <a:avLst/>
          </a:prstGeom>
          <a:solidFill>
            <a:srgbClr val="496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057400" cy="1325880"/>
          </a:xfrm>
          <a:prstGeom prst="roundRect">
            <a:avLst/>
          </a:prstGeom>
          <a:solidFill>
            <a:srgbClr val="142D44"/>
          </a:solidFill>
          <a:ln>
            <a:solidFill>
              <a:srgbClr val="35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2039112"/>
            <a:ext cx="438912" cy="438912"/>
          </a:xfrm>
          <a:prstGeom prst="ellipse">
            <a:avLst/>
          </a:prstGeom>
          <a:solidFill>
            <a:srgbClr val="3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8483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20824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Detecta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32887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E0EBF3"/>
                </a:solidFill>
                <a:latin typeface="Aptos"/>
              </a:defRPr>
            </a:pPr>
            <a:r>
              <a:t>resultado de saúde</a:t>
            </a:r>
          </a:p>
        </p:txBody>
      </p:sp>
      <p:sp>
        <p:nvSpPr>
          <p:cNvPr id="10" name="Chevron 9"/>
          <p:cNvSpPr/>
          <p:nvPr/>
        </p:nvSpPr>
        <p:spPr>
          <a:xfrm>
            <a:off x="4846320" y="2350008"/>
            <a:ext cx="438912" cy="384048"/>
          </a:xfrm>
          <a:prstGeom prst="chevron">
            <a:avLst/>
          </a:prstGeom>
          <a:solidFill>
            <a:srgbClr val="496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9232" y="1874519"/>
            <a:ext cx="2057400" cy="1325880"/>
          </a:xfrm>
          <a:prstGeom prst="roundRect">
            <a:avLst/>
          </a:prstGeom>
          <a:solidFill>
            <a:srgbClr val="142D44"/>
          </a:solidFill>
          <a:ln>
            <a:solidFill>
              <a:srgbClr val="35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5536" y="2039112"/>
            <a:ext cx="438912" cy="438912"/>
          </a:xfrm>
          <a:prstGeom prst="ellipse">
            <a:avLst/>
          </a:prstGeom>
          <a:solidFill>
            <a:srgbClr val="27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5536" y="208483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20824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Analisa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532887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E0EBF3"/>
                </a:solidFill>
                <a:latin typeface="Aptos"/>
              </a:defRPr>
            </a:pPr>
            <a:r>
              <a:t>a alegação</a:t>
            </a:r>
          </a:p>
        </p:txBody>
      </p:sp>
      <p:sp>
        <p:nvSpPr>
          <p:cNvPr id="16" name="Chevron 15"/>
          <p:cNvSpPr/>
          <p:nvPr/>
        </p:nvSpPr>
        <p:spPr>
          <a:xfrm>
            <a:off x="7132320" y="2350008"/>
            <a:ext cx="438912" cy="384048"/>
          </a:xfrm>
          <a:prstGeom prst="chevron">
            <a:avLst/>
          </a:prstGeom>
          <a:solidFill>
            <a:srgbClr val="496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85232" y="1874519"/>
            <a:ext cx="2057400" cy="1325880"/>
          </a:xfrm>
          <a:prstGeom prst="roundRect">
            <a:avLst/>
          </a:prstGeom>
          <a:solidFill>
            <a:srgbClr val="142D44"/>
          </a:solidFill>
          <a:ln>
            <a:solidFill>
              <a:srgbClr val="35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31536" y="2039112"/>
            <a:ext cx="438912" cy="438912"/>
          </a:xfrm>
          <a:prstGeom prst="ellipse">
            <a:avLst/>
          </a:prstGeom>
          <a:solidFill>
            <a:srgbClr val="2C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08483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020824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Busca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2532887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E0EBF3"/>
                </a:solidFill>
                <a:latin typeface="Aptos"/>
              </a:defRPr>
            </a:pPr>
            <a:r>
              <a:t>evidências oficiais</a:t>
            </a:r>
          </a:p>
        </p:txBody>
      </p:sp>
      <p:sp>
        <p:nvSpPr>
          <p:cNvPr id="22" name="Chevron 21"/>
          <p:cNvSpPr/>
          <p:nvPr/>
        </p:nvSpPr>
        <p:spPr>
          <a:xfrm>
            <a:off x="9418319" y="2350008"/>
            <a:ext cx="438912" cy="384048"/>
          </a:xfrm>
          <a:prstGeom prst="chevron">
            <a:avLst/>
          </a:prstGeom>
          <a:solidFill>
            <a:srgbClr val="496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71231" y="1874519"/>
            <a:ext cx="2057400" cy="1325880"/>
          </a:xfrm>
          <a:prstGeom prst="roundRect">
            <a:avLst/>
          </a:prstGeom>
          <a:solidFill>
            <a:srgbClr val="142D44"/>
          </a:solidFill>
          <a:ln>
            <a:solidFill>
              <a:srgbClr val="35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17536" y="2039112"/>
            <a:ext cx="438912" cy="438912"/>
          </a:xfrm>
          <a:prstGeom prst="ellipse">
            <a:avLst/>
          </a:prstGeom>
          <a:solidFill>
            <a:srgbClr val="E0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7536" y="208483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20824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Classifica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1" y="2532887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E0EBF3"/>
                </a:solidFill>
                <a:latin typeface="Aptos"/>
              </a:defRPr>
            </a:pPr>
            <a:r>
              <a:t>com RAG + 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7232" y="1874519"/>
            <a:ext cx="2057400" cy="1325880"/>
          </a:xfrm>
          <a:prstGeom prst="roundRect">
            <a:avLst/>
          </a:prstGeom>
          <a:solidFill>
            <a:srgbClr val="142D44"/>
          </a:solidFill>
          <a:ln>
            <a:solidFill>
              <a:srgbClr val="35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03536" y="2039112"/>
            <a:ext cx="438912" cy="438912"/>
          </a:xfrm>
          <a:prstGeom prst="ellipse">
            <a:avLst/>
          </a:prstGeom>
          <a:solidFill>
            <a:srgbClr val="D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03536" y="208483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020824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Explica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1" y="2532887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E0EBF3"/>
                </a:solidFill>
                <a:latin typeface="Aptos"/>
              </a:defRPr>
            </a:pPr>
            <a:r>
              <a:t>e mostra as fontes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703320"/>
            <a:ext cx="52578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567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51560" y="3950208"/>
            <a:ext cx="4709160" cy="438912"/>
          </a:xfrm>
          <a:prstGeom prst="roundRect">
            <a:avLst/>
          </a:prstGeom>
          <a:solidFill>
            <a:srgbClr val="E2F4EE"/>
          </a:solidFill>
          <a:ln>
            <a:solidFill>
              <a:srgbClr val="2C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4032504"/>
            <a:ext cx="4343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050"/>
                </a:solidFill>
                <a:latin typeface="Aptos"/>
              </a:defRPr>
            </a:pPr>
            <a:r>
              <a:t>🟢 Evidências favoráveis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572000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44660"/>
                </a:solidFill>
                <a:latin typeface="Aptos"/>
              </a:defRPr>
            </a:pPr>
            <a:r>
              <a:t>Por que o sistema classificou assim?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818888"/>
            <a:ext cx="4480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9">
                <a:solidFill>
                  <a:srgbClr val="4B555D"/>
                </a:solidFill>
                <a:latin typeface="Aptos"/>
              </a:defRPr>
            </a:pPr>
            <a:r>
              <a:t>A explicação relaciona a alegação aos trechos recuperados.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138928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44660"/>
                </a:solidFill>
                <a:latin typeface="Aptos"/>
              </a:defRPr>
            </a:pPr>
            <a:r>
              <a:t>Evidências utilizadas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385816"/>
            <a:ext cx="4480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9">
                <a:solidFill>
                  <a:srgbClr val="4B555D"/>
                </a:solidFill>
                <a:latin typeface="Aptos"/>
              </a:defRPr>
            </a:pPr>
            <a:r>
              <a:t>Fonte • título • trecho • similaridade semântica • link original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68503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O diferencial não é apenas dar um rótulo</a:t>
            </a:r>
          </a:p>
        </p:txBody>
      </p:sp>
      <p:sp>
        <p:nvSpPr>
          <p:cNvPr id="41" name="Oval 40"/>
          <p:cNvSpPr/>
          <p:nvPr/>
        </p:nvSpPr>
        <p:spPr>
          <a:xfrm>
            <a:off x="6473952" y="4251960"/>
            <a:ext cx="393192" cy="393192"/>
          </a:xfrm>
          <a:prstGeom prst="ellipse">
            <a:avLst/>
          </a:prstGeom>
          <a:solidFill>
            <a:srgbClr val="184E5B"/>
          </a:solidFill>
          <a:ln>
            <a:solidFill>
              <a:srgbClr val="27B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4297680"/>
            <a:ext cx="30175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Segoe UI Symbol"/>
              </a:defRPr>
            </a:pPr>
            <a:r>
              <a:t>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4242816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EBF3"/>
                </a:solidFill>
                <a:latin typeface="Aptos"/>
              </a:defRPr>
            </a:pPr>
            <a:r>
              <a:t>Evidências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4233672"/>
            <a:ext cx="2788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ECD"/>
                </a:solidFill>
                <a:latin typeface="Aptos"/>
              </a:defRPr>
            </a:pPr>
            <a:r>
              <a:t>A classificação é acompanhada dos trechos usados na análise.</a:t>
            </a:r>
          </a:p>
        </p:txBody>
      </p:sp>
      <p:sp>
        <p:nvSpPr>
          <p:cNvPr id="45" name="Oval 44"/>
          <p:cNvSpPr/>
          <p:nvPr/>
        </p:nvSpPr>
        <p:spPr>
          <a:xfrm>
            <a:off x="6473952" y="4818888"/>
            <a:ext cx="393192" cy="393192"/>
          </a:xfrm>
          <a:prstGeom prst="ellipse">
            <a:avLst/>
          </a:prstGeom>
          <a:solidFill>
            <a:srgbClr val="184E5B"/>
          </a:solidFill>
          <a:ln>
            <a:solidFill>
              <a:srgbClr val="27B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9672" y="4864608"/>
            <a:ext cx="30175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Segoe UI Symbol"/>
              </a:defRPr>
            </a:pPr>
            <a:r>
              <a:t>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809744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EBF3"/>
                </a:solidFill>
                <a:latin typeface="Aptos"/>
              </a:defRPr>
            </a:pPr>
            <a:r>
              <a:t>Rastreabilidade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4800600"/>
            <a:ext cx="2788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ECD"/>
                </a:solidFill>
                <a:latin typeface="Aptos"/>
              </a:defRPr>
            </a:pPr>
            <a:r>
              <a:t>O usuário pode consultar a fonte original.</a:t>
            </a:r>
          </a:p>
        </p:txBody>
      </p:sp>
      <p:sp>
        <p:nvSpPr>
          <p:cNvPr id="49" name="Oval 48"/>
          <p:cNvSpPr/>
          <p:nvPr/>
        </p:nvSpPr>
        <p:spPr>
          <a:xfrm>
            <a:off x="6473952" y="5385816"/>
            <a:ext cx="393192" cy="393192"/>
          </a:xfrm>
          <a:prstGeom prst="ellipse">
            <a:avLst/>
          </a:prstGeom>
          <a:solidFill>
            <a:srgbClr val="184E5B"/>
          </a:solidFill>
          <a:ln>
            <a:solidFill>
              <a:srgbClr val="27B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9672" y="5431536"/>
            <a:ext cx="30175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Segoe UI Symbol"/>
              </a:defRPr>
            </a:pPr>
            <a:r>
              <a:t>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22592" y="5376672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EBF3"/>
                </a:solidFill>
                <a:latin typeface="Aptos"/>
              </a:defRPr>
            </a:pPr>
            <a:r>
              <a:t>Pensamento crítico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5367528"/>
            <a:ext cx="2788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7BECD"/>
                </a:solidFill>
                <a:latin typeface="Aptos"/>
              </a:defRPr>
            </a:pPr>
            <a:r>
              <a:t>A interface orienta o usuário a comparar as evidências antes de compartilhar.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19088" y="5907024"/>
            <a:ext cx="4800600" cy="438912"/>
          </a:xfrm>
          <a:prstGeom prst="roundRect">
            <a:avLst/>
          </a:prstGeom>
          <a:solidFill>
            <a:srgbClr val="134B53"/>
          </a:solidFill>
          <a:ln>
            <a:solidFill>
              <a:srgbClr val="27B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5989320"/>
            <a:ext cx="4434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IA como apoio ao raciocínio — não como autoridade absoluta.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