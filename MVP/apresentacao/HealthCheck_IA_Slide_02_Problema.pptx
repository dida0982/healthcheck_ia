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0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100" b="1">
                <a:solidFill>
                  <a:srgbClr val="FFFFFF"/>
                </a:solidFill>
                <a:latin typeface="Aptos Display"/>
              </a:defRPr>
            </a:pPr>
            <a:r>
              <a:t>O problema da desinformação em saúde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8" y="1170432"/>
            <a:ext cx="104241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A7BECD"/>
                </a:solidFill>
                <a:latin typeface="Aptos"/>
              </a:defRPr>
            </a:pPr>
            <a:r>
              <a:t>Na internet, uma alegação pode parecer confiável antes mesmo de o usuário verificar a evidência.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828800"/>
            <a:ext cx="5120640" cy="3977639"/>
          </a:xfrm>
          <a:prstGeom prst="roundRect">
            <a:avLst/>
          </a:prstGeom>
          <a:solidFill>
            <a:srgbClr val="F4F7F9"/>
          </a:solidFill>
          <a:ln>
            <a:solidFill>
              <a:srgbClr val="5670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51560" y="2084831"/>
            <a:ext cx="4526280" cy="475488"/>
          </a:xfrm>
          <a:prstGeom prst="roundRect">
            <a:avLst/>
          </a:prstGeom>
          <a:solidFill>
            <a:srgbClr val="E5EA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98448" y="2176272"/>
            <a:ext cx="3931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8525B"/>
                </a:solidFill>
                <a:latin typeface="Aptos"/>
              </a:defRPr>
            </a:pPr>
            <a:r>
              <a:t>🔎  vacina gripe informação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788920"/>
            <a:ext cx="4297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474B5"/>
                </a:solidFill>
                <a:latin typeface="Aptos"/>
              </a:defRPr>
            </a:pPr>
            <a:r>
              <a:t>Resultado de busca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072384"/>
            <a:ext cx="43434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4A545B"/>
                </a:solidFill>
                <a:latin typeface="Aptos"/>
              </a:defRPr>
            </a:pPr>
            <a:r>
              <a:t>Uma afirmação de saúde aparece acompanhada de linguagem convincente...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630168"/>
            <a:ext cx="4297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474B5"/>
                </a:solidFill>
                <a:latin typeface="Aptos"/>
              </a:defRPr>
            </a:pPr>
            <a:r>
              <a:t>Outro resultado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3913631"/>
            <a:ext cx="43434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4A545B"/>
                </a:solidFill>
                <a:latin typeface="Aptos"/>
              </a:defRPr>
            </a:pPr>
            <a:r>
              <a:t>O usuário encontra diferentes versões da mesma informação...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4471416"/>
            <a:ext cx="4297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474B5"/>
                </a:solidFill>
                <a:latin typeface="Aptos"/>
              </a:defRPr>
            </a:pPr>
            <a:r>
              <a:t>Conteúdo compartilhável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4754879"/>
            <a:ext cx="43434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4A545B"/>
                </a:solidFill>
                <a:latin typeface="Aptos"/>
              </a:defRPr>
            </a:pPr>
            <a:r>
              <a:t>Sem verificar a fonte, a mensagem pode continuar circulando.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70432" y="5276088"/>
            <a:ext cx="4251960" cy="347472"/>
          </a:xfrm>
          <a:prstGeom prst="roundRect">
            <a:avLst/>
          </a:prstGeom>
          <a:solidFill>
            <a:srgbClr val="FFEBE7"/>
          </a:solidFill>
          <a:ln>
            <a:solidFill>
              <a:srgbClr val="D2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98448" y="5340096"/>
            <a:ext cx="3977639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963434"/>
                </a:solidFill>
                <a:latin typeface="Aptos"/>
              </a:defRPr>
            </a:pPr>
            <a:r>
              <a:t>⚠ Aparência de credibilidade não é evidência.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1874519"/>
            <a:ext cx="4983480" cy="1024128"/>
          </a:xfrm>
          <a:prstGeom prst="roundRect">
            <a:avLst/>
          </a:prstGeom>
          <a:solidFill>
            <a:srgbClr val="142D44"/>
          </a:solidFill>
          <a:ln>
            <a:solidFill>
              <a:srgbClr val="3556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629400" y="2075688"/>
            <a:ext cx="566928" cy="566928"/>
          </a:xfrm>
          <a:prstGeom prst="ellipse">
            <a:avLst/>
          </a:prstGeom>
          <a:solidFill>
            <a:srgbClr val="27B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29400" y="2139696"/>
            <a:ext cx="56692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88352" y="2011679"/>
            <a:ext cx="3657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Volume de informação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88352" y="2322576"/>
            <a:ext cx="3703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80">
                <a:solidFill>
                  <a:srgbClr val="E0EBF3"/>
                </a:solidFill>
                <a:latin typeface="Aptos"/>
              </a:defRPr>
            </a:pPr>
            <a:r>
              <a:t>O usuário recebe muitas alegações e nem sempre consegue verificar cada fonte.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3136391"/>
            <a:ext cx="4983480" cy="1024128"/>
          </a:xfrm>
          <a:prstGeom prst="roundRect">
            <a:avLst/>
          </a:prstGeom>
          <a:solidFill>
            <a:srgbClr val="142D44"/>
          </a:solidFill>
          <a:ln>
            <a:solidFill>
              <a:srgbClr val="3556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629400" y="3337560"/>
            <a:ext cx="566928" cy="566928"/>
          </a:xfrm>
          <a:prstGeom prst="ellipse">
            <a:avLst/>
          </a:prstGeom>
          <a:solidFill>
            <a:srgbClr val="E09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29400" y="3401568"/>
            <a:ext cx="56692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88352" y="3273551"/>
            <a:ext cx="3657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Contexto pode ser distorcido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88352" y="3584448"/>
            <a:ext cx="3703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80">
                <a:solidFill>
                  <a:srgbClr val="E0EBF3"/>
                </a:solidFill>
                <a:latin typeface="Aptos"/>
              </a:defRPr>
            </a:pPr>
            <a:r>
              <a:t>Uma informação parcialmente correta pode sustentar uma conclusão exagerada ou enganosa.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0" y="4398264"/>
            <a:ext cx="4983480" cy="1024128"/>
          </a:xfrm>
          <a:prstGeom prst="roundRect">
            <a:avLst/>
          </a:prstGeom>
          <a:solidFill>
            <a:srgbClr val="142D44"/>
          </a:solidFill>
          <a:ln>
            <a:solidFill>
              <a:srgbClr val="3556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629400" y="4599431"/>
            <a:ext cx="566928" cy="566928"/>
          </a:xfrm>
          <a:prstGeom prst="ellipse">
            <a:avLst/>
          </a:prstGeom>
          <a:solidFill>
            <a:srgbClr val="D2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29400" y="4663440"/>
            <a:ext cx="56692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88352" y="4535424"/>
            <a:ext cx="3657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Decisões de saúde exigem cuidado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88352" y="4846320"/>
            <a:ext cx="3703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80">
                <a:solidFill>
                  <a:srgbClr val="E0EBF3"/>
                </a:solidFill>
                <a:latin typeface="Aptos"/>
              </a:defRPr>
            </a:pPr>
            <a:r>
              <a:t>Compartilhar ou agir com base em informação inadequada pode ter consequências relevantes.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0" y="5650992"/>
            <a:ext cx="4983480" cy="530352"/>
          </a:xfrm>
          <a:prstGeom prst="roundRect">
            <a:avLst/>
          </a:prstGeom>
          <a:solidFill>
            <a:srgbClr val="134B53"/>
          </a:solidFill>
          <a:ln>
            <a:solidFill>
              <a:srgbClr val="27B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29400" y="5751576"/>
            <a:ext cx="4526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FFFFFF"/>
                </a:solidFill>
                <a:latin typeface="Aptos"/>
              </a:defRPr>
            </a:pPr>
            <a:r>
              <a:t>Desafio: ajudar o usuário a comparar alegações com evidências rastreáveis.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